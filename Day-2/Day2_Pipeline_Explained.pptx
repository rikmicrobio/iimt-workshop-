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005840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55448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201168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23774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0" y="3017520"/>
            <a:ext cx="182880" cy="1828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41148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51206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5577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1097280"/>
            <a:ext cx="640080" cy="45720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1097280"/>
            <a:ext cx="-457200" cy="91440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0" y="1600200"/>
            <a:ext cx="548640" cy="77724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ML PIPELINE  ·  DAY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9659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Sequences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Model-Ready Features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9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walkthrough of every step in the notebook — why it's done, what it does, and what comes out the other side.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F45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806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Splitting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83280" y="58064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F45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5806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Embeddings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58064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F45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5806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Split + PCA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9680" y="580644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F454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5806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Selection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 turn 156 raw peptides into clean, model-ready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76200" dist="38100" dir="5400000">
              <a:srgbClr val="9DBDBD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duplicate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peptides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no near-identical sequences can leak between train and test.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0" y="36118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19202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76200" dist="38100" dir="5400000">
              <a:srgbClr val="9DBDBD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6532" y="22402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56532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02152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sequences into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47872" y="39776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protein language model (ProtBERT) to embed each peptide as a vector.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88152" y="36118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9904" y="19202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76200" dist="38100" dir="5400000">
              <a:srgbClr val="9DBDBD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7164" y="2240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7164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72784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Split, then compress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18504" y="39776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split, then shrink 1024 embedding dims down to ~76 with PCA.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58784" y="3611880"/>
            <a:ext cx="621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0536" y="1920240"/>
            <a:ext cx="2514600" cy="39319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76200" dist="38100" dir="5400000">
              <a:srgbClr val="9DBDBD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7796" y="2240280"/>
            <a:ext cx="640080" cy="640080"/>
          </a:xfrm>
          <a:prstGeom prst="ellipse">
            <a:avLst/>
          </a:prstGeom>
          <a:solidFill>
            <a:srgbClr val="025E66"/>
          </a:solidFill>
          <a:ln/>
        </p:spPr>
      </p:sp>
      <p:sp>
        <p:nvSpPr>
          <p:cNvPr id="24" name="Text 22"/>
          <p:cNvSpPr/>
          <p:nvPr/>
        </p:nvSpPr>
        <p:spPr>
          <a:xfrm>
            <a:off x="979779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43416" y="306324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redundant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89136" y="3977640"/>
            <a:ext cx="2057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biophysical descriptors that just duplicate information already captured.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HOMOLOGY-AWARE SPLITTING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check for duplicate peptides before splitting the data?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309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risk: information leakage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56692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very similar peptides exist in the dataset and end up on opposite sides of the split, the model can "cheat" by memorizing one to predict the other.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inflates reported accuracy — the model looks great in testing but won't generalize to truly new peptides.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alone can't catch this — it doesn't know which sequences are "similar."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828800"/>
            <a:ext cx="4572000" cy="4023360"/>
          </a:xfrm>
          <a:prstGeom prst="roundRect">
            <a:avLst>
              <a:gd name="adj" fmla="val 2273"/>
            </a:avLst>
          </a:prstGeom>
          <a:solidFill>
            <a:srgbClr val="0A2E36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0664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CD-HIT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2971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("clusters") sequences that are more similar than a chosen identity threshold — like sorting peptides into family piles.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3977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run three times, from strict to very loose, to see at what point (if any) sequences start clustering together: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4709160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47091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06640" y="50932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509320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50932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similar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0" y="547725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547725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54772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loose — CD-HIT's floor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peptide turned out to be its own cluster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F45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for 156 sequences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 90%, 70%, AND 40%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no two peptides are similar enough to be considered redundant, even by a generous definition.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1772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makes sense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2860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antimicrobial peptide (AMP) datasets are usually pulled from many different peptide families — defensins, cathelicidins, cecropins — that share function, not sequence.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3520440"/>
            <a:ext cx="67665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61772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17720" y="4114800"/>
            <a:ext cx="6766560" cy="155448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224528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simple stratified random train/test split (stratified on Class). No cluster structure exists to preserve, so cluster-aware grouping would only add complexity for no benefit.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PEPTIDE EMBEDDINGS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sequence of letters into a vector of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peptide like MSQNVLTVYG... means nothing to a machine-learning model as raw text. Embeddings translate each sequence into a fixed-length list of numbers that captures its biochemical "meaning" — similar peptides end up with similar numbers.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ProtBERT (Rostlab/prot_bert)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BERT-style language model pretrained on huge numbers of protein sequences — the same idea as language models for text, but the "words" are amino acids.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4617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sequence is fed through the model, and the output is mean-pooled into a single 1024-dimensional vector representing that peptide.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2971800"/>
            <a:ext cx="5669280" cy="3246120"/>
          </a:xfrm>
          <a:prstGeom prst="roundRect">
            <a:avLst>
              <a:gd name="adj" fmla="val 2817"/>
            </a:avLst>
          </a:prstGeom>
          <a:solidFill>
            <a:srgbClr val="0A2E36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200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practical setup details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639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transformers==4.46.0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91363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versions have a known tokenizer-loading bug for this specific model.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4988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check (Tesla T4 detected)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75488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hundreds of sequences is far faster on GPU than CPU.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5340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5321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use_fast=False, do_lower_case=False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559612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D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a bug where the fast tokenizer misreads ProtBERT's format; ProtBERT only understands uppercase letters.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a 1024-number fingerprint per peptide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63500" dist="25400" dir="5400000">
              <a:srgbClr val="9DBDB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the sequence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it; map rare residues (U, Z, O, B) to X since ProtBERT's vocabulary doesn't include them.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44952" y="33375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19272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63500" dist="25400" dir="5400000">
              <a:srgbClr val="9DBDBD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02252" y="21945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302252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02152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out letters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2152" y="36118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space between every amino acid — ProtBERT treats each letter as its own token.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15584" y="33375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89904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63500" dist="25400" dir="5400000">
              <a:srgbClr val="9DBDBD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72884" y="2194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07288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72784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 &amp; run model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72784" y="36118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the batch, run it through ProtBERT with gradients disabled (faster, less memory).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86216" y="333756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860536" y="19202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  <a:effectLst>
            <a:outerShdw sx="100000" sy="100000" kx="0" ky="0" algn="bl" rotWithShape="0" blurRad="63500" dist="25400" dir="5400000">
              <a:srgbClr val="9DBDBD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843516" y="2194560"/>
            <a:ext cx="548640" cy="548640"/>
          </a:xfrm>
          <a:prstGeom prst="ellipse">
            <a:avLst/>
          </a:prstGeom>
          <a:solidFill>
            <a:srgbClr val="025E66"/>
          </a:solidFill>
          <a:ln/>
        </p:spPr>
      </p:sp>
      <p:sp>
        <p:nvSpPr>
          <p:cNvPr id="24" name="Text 22"/>
          <p:cNvSpPr/>
          <p:nvPr/>
        </p:nvSpPr>
        <p:spPr>
          <a:xfrm>
            <a:off x="984351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43416" y="29260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Mask-aware mean pool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043416" y="36118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token outputs, excluding [PAD]/[CLS]/[SEP] positions, into one 1024-dim vector.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A2E3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peptide in the combined dataset gets 1024 new "embedding_0 ... embedding_1023" columns, saved to peptide-embeddings.csv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TRAIN / TEST SPLIT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data 80/20 — keeping class balance identical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randomly divided so 80% trains the model and 20% is held back to test it. "Stratified" means both sides keep roughly the same AMP / NAMP ratio as the full dataset — no accidental skew.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 NAMP  /  38.7% AMP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8346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3063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3832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25196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4709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NAMP  /  37.5% AMP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83464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F7FA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random_state=42?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8200" y="342900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random seed makes the split reproducible — rerunning the notebook produces the exact same train/test rows every time, which every later step depends 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PCA DIMENSIONALITY REDUCTION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Compressing 1024 embedding dimensions down to ~76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raw ProtBERT numbers per peptide are too many, too correlated with each other, and individually meaningless to feed straight into modeling. PCA finds a smaller set of combined dimensions that keep most of the useful information.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F45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71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FC8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embedding dims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301752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72000" y="28346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9718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2834640"/>
            <a:ext cx="4480560" cy="1463040"/>
          </a:xfrm>
          <a:prstGeom prst="roundRect">
            <a:avLst>
              <a:gd name="adj" fmla="val 6250"/>
            </a:avLst>
          </a:prstGeom>
          <a:solidFill>
            <a:srgbClr val="0F454A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2926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406640" y="36118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original variance (information) retained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done correctly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0292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PCA(n_components=0.95) are fit only on the training embeddings — never on test data.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train-only avoids leaking any test-set structure into the PCA basis itself (the same rule as Step 1).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already-fitted PCA transform is then applied to the test embeddings, not refit — so both sets share one consistent "coordinate system."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CURATED BIOPHYSICAL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redundant lab-computed features with a correlation heatmap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 from the ProtBERT embeddings, the notebook also has hand-curated biophysical descriptors — molecular weight, charge, hydrophobicity, secondary-structure fractions, residue composition, etc. Some of these overlap mathematically by definition.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correlation heatmap shows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356616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9" name="Shape 7"/>
          <p:cNvSpPr/>
          <p:nvPr/>
        </p:nvSpPr>
        <p:spPr>
          <a:xfrm>
            <a:off x="1636776" y="356616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2020824" y="3566160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11" name="Shape 9"/>
          <p:cNvSpPr/>
          <p:nvPr/>
        </p:nvSpPr>
        <p:spPr>
          <a:xfrm>
            <a:off x="2404872" y="3566160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356616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950208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2728" y="3950208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15" name="Shape 13"/>
          <p:cNvSpPr/>
          <p:nvPr/>
        </p:nvSpPr>
        <p:spPr>
          <a:xfrm>
            <a:off x="1636776" y="3950208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16" name="Shape 14"/>
          <p:cNvSpPr/>
          <p:nvPr/>
        </p:nvSpPr>
        <p:spPr>
          <a:xfrm>
            <a:off x="2020824" y="3950208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17" name="Shape 15"/>
          <p:cNvSpPr/>
          <p:nvPr/>
        </p:nvSpPr>
        <p:spPr>
          <a:xfrm>
            <a:off x="2404872" y="3950208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18" name="Shape 16"/>
          <p:cNvSpPr/>
          <p:nvPr/>
        </p:nvSpPr>
        <p:spPr>
          <a:xfrm>
            <a:off x="2788920" y="3950208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334256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2728" y="4334256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21" name="Shape 19"/>
          <p:cNvSpPr/>
          <p:nvPr/>
        </p:nvSpPr>
        <p:spPr>
          <a:xfrm>
            <a:off x="1636776" y="4334256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22" name="Shape 20"/>
          <p:cNvSpPr/>
          <p:nvPr/>
        </p:nvSpPr>
        <p:spPr>
          <a:xfrm>
            <a:off x="2020824" y="4334256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4872" y="4334256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24" name="Shape 22"/>
          <p:cNvSpPr/>
          <p:nvPr/>
        </p:nvSpPr>
        <p:spPr>
          <a:xfrm>
            <a:off x="2788920" y="4334256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" y="4718304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2728" y="4718304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27" name="Shape 25"/>
          <p:cNvSpPr/>
          <p:nvPr/>
        </p:nvSpPr>
        <p:spPr>
          <a:xfrm>
            <a:off x="1636776" y="4718304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020824" y="4718304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29" name="Shape 27"/>
          <p:cNvSpPr/>
          <p:nvPr/>
        </p:nvSpPr>
        <p:spPr>
          <a:xfrm>
            <a:off x="2404872" y="4718304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30" name="Shape 28"/>
          <p:cNvSpPr/>
          <p:nvPr/>
        </p:nvSpPr>
        <p:spPr>
          <a:xfrm>
            <a:off x="2788920" y="4718304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31" name="Shape 29"/>
          <p:cNvSpPr/>
          <p:nvPr/>
        </p:nvSpPr>
        <p:spPr>
          <a:xfrm>
            <a:off x="868680" y="5102352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252728" y="5102352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33" name="Shape 31"/>
          <p:cNvSpPr/>
          <p:nvPr/>
        </p:nvSpPr>
        <p:spPr>
          <a:xfrm>
            <a:off x="1636776" y="5102352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34" name="Shape 32"/>
          <p:cNvSpPr/>
          <p:nvPr/>
        </p:nvSpPr>
        <p:spPr>
          <a:xfrm>
            <a:off x="2020824" y="5102352"/>
            <a:ext cx="365760" cy="365760"/>
          </a:xfrm>
          <a:prstGeom prst="rect">
            <a:avLst/>
          </a:prstGeom>
          <a:solidFill>
            <a:srgbClr val="F2B8A8"/>
          </a:solidFill>
          <a:ln/>
        </p:spPr>
      </p:sp>
      <p:sp>
        <p:nvSpPr>
          <p:cNvPr id="35" name="Shape 33"/>
          <p:cNvSpPr/>
          <p:nvPr/>
        </p:nvSpPr>
        <p:spPr>
          <a:xfrm>
            <a:off x="2404872" y="5102352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36" name="Shape 34"/>
          <p:cNvSpPr/>
          <p:nvPr/>
        </p:nvSpPr>
        <p:spPr>
          <a:xfrm>
            <a:off x="2788920" y="5102352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Shape 35"/>
          <p:cNvSpPr/>
          <p:nvPr/>
        </p:nvSpPr>
        <p:spPr>
          <a:xfrm>
            <a:off x="868680" y="548640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38" name="Shape 36"/>
          <p:cNvSpPr/>
          <p:nvPr/>
        </p:nvSpPr>
        <p:spPr>
          <a:xfrm>
            <a:off x="1252728" y="548640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39" name="Shape 37"/>
          <p:cNvSpPr/>
          <p:nvPr/>
        </p:nvSpPr>
        <p:spPr>
          <a:xfrm>
            <a:off x="1636776" y="5486400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40" name="Shape 38"/>
          <p:cNvSpPr/>
          <p:nvPr/>
        </p:nvSpPr>
        <p:spPr>
          <a:xfrm>
            <a:off x="2020824" y="5486400"/>
            <a:ext cx="365760" cy="365760"/>
          </a:xfrm>
          <a:prstGeom prst="rect">
            <a:avLst/>
          </a:prstGeom>
          <a:solidFill>
            <a:srgbClr val="E9F3F2"/>
          </a:solidFill>
          <a:ln/>
        </p:spPr>
      </p:sp>
      <p:sp>
        <p:nvSpPr>
          <p:cNvPr id="41" name="Shape 39"/>
          <p:cNvSpPr/>
          <p:nvPr/>
        </p:nvSpPr>
        <p:spPr>
          <a:xfrm>
            <a:off x="2404872" y="548640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Shape 40"/>
          <p:cNvSpPr/>
          <p:nvPr/>
        </p:nvSpPr>
        <p:spPr>
          <a:xfrm>
            <a:off x="2788920" y="5486400"/>
            <a:ext cx="365760" cy="36576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43" name="Text 41"/>
          <p:cNvSpPr/>
          <p:nvPr/>
        </p:nvSpPr>
        <p:spPr>
          <a:xfrm>
            <a:off x="822960" y="600760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teal squares = highly correlated pairs (redundant); pale = little relationship.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760720" y="2880360"/>
            <a:ext cx="5897880" cy="3383280"/>
          </a:xfrm>
          <a:prstGeom prst="roundRect">
            <a:avLst>
              <a:gd name="adj" fmla="val 2703"/>
            </a:avLst>
          </a:prstGeom>
          <a:solidFill>
            <a:srgbClr val="0A2E36"/>
          </a:solidFill>
          <a:ln/>
        </p:spPr>
      </p:sp>
      <p:sp>
        <p:nvSpPr>
          <p:cNvPr id="45" name="Text 43"/>
          <p:cNvSpPr/>
          <p:nvPr/>
        </p:nvSpPr>
        <p:spPr>
          <a:xfrm>
            <a:off x="608076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080760" y="3520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608076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583680" y="35021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combined-biophysical-properties.csv, the full descriptor table.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080760" y="43891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6080760" y="4389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83680" y="43708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pairwise correlation across all descriptors (dropping Sequence/Class) and plot as a heatmap.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080760" y="5257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3" name="Text 51"/>
          <p:cNvSpPr/>
          <p:nvPr/>
        </p:nvSpPr>
        <p:spPr>
          <a:xfrm>
            <a:off x="6080760" y="5257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583680" y="523951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F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and numerically spot pairs that move together almost perfectly — candidates for removal.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redundant features dropped; clean tables saved for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descriptors were highly collinear with other features already in the set, so keeping them would add noise without adding new information: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06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NonpolarResidues_pct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26060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2606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HydrophobicRatio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260604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26060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AliphaticIndex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HydrophobicMoment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32004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Charge_pH7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320040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F3E1DD"/>
          </a:solidFill>
          <a:ln w="12700">
            <a:solidFill>
              <a:srgbClr val="D969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B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TinyResidues_pct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saved outputs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572000"/>
            <a:ext cx="109728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45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train-124-embd-reduced.csv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training peptides × PCA-reduced embeddings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57200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4572000"/>
            <a:ext cx="109728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6451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test-32-embd-reduced.csv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0" y="4956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test peptides × PCA-reduced embeddings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532120"/>
            <a:ext cx="10972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6052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train-124-biophysical-curated.csv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916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training peptides × curated biophysical features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553212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CEB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5532120"/>
            <a:ext cx="109728" cy="777240"/>
          </a:xfrm>
          <a:prstGeom prst="rect">
            <a:avLst/>
          </a:prstGeom>
          <a:solidFill>
            <a:srgbClr val="025E6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56052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test-32-biophysical-curated.csv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0" y="59161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test peptides × curated biophysical features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notebook in one sentence, per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2194560"/>
            <a:ext cx="10424160" cy="0"/>
          </a:xfrm>
          <a:prstGeom prst="line">
            <a:avLst/>
          </a:prstGeom>
          <a:noFill/>
          <a:ln w="12700">
            <a:solidFill>
              <a:srgbClr val="1E5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4708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near-duplicate peptides (CD-HIT) → found none, so a simple stratified split is safe.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88720" y="3246120"/>
            <a:ext cx="10424160" cy="0"/>
          </a:xfrm>
          <a:prstGeom prst="line">
            <a:avLst/>
          </a:prstGeom>
          <a:noFill/>
          <a:ln w="12700">
            <a:solidFill>
              <a:srgbClr val="1E5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89864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every sequence into a 1024-number ProtBERT embedding.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4297680"/>
            <a:ext cx="10424160" cy="0"/>
          </a:xfrm>
          <a:prstGeom prst="line">
            <a:avLst/>
          </a:prstGeom>
          <a:noFill/>
          <a:ln w="12700">
            <a:solidFill>
              <a:srgbClr val="1E5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95020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80/20, then compressed embeddings to 76 PCA components (95% variance kept) — fit on train only.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48640" cy="548640"/>
          </a:xfrm>
          <a:prstGeom prst="ellipse">
            <a:avLst/>
          </a:prstGeom>
          <a:solidFill>
            <a:srgbClr val="025E6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5349240"/>
            <a:ext cx="10424160" cy="0"/>
          </a:xfrm>
          <a:prstGeom prst="line">
            <a:avLst/>
          </a:prstGeom>
          <a:noFill/>
          <a:ln w="12700">
            <a:solidFill>
              <a:srgbClr val="1E5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50017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6 redundant biophysical features found via correlation analysis, then saved final train/test tables.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leakage-safe, dimensionally-reduced, redundancy-trimmed features — ready for downstream AMP classification modeling.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2026-07-27T18:04:38Z</dcterms:created>
  <dcterms:modified xsi:type="dcterms:W3CDTF">2026-07-27T18:04:38Z</dcterms:modified>
</cp:coreProperties>
</file>